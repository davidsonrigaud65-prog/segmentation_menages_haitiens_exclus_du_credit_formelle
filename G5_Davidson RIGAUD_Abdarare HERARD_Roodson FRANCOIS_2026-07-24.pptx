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notesSlides/notesSlide9.xml" ContentType="application/vnd.openxmlformats-officedocument.presentationml.notesSlide+xml"/>
  <Override PartName="/ppt/charts/chart8.xml" ContentType="application/vnd.openxmlformats-officedocument.drawingml.chart+xml"/>
  <Override PartName="/ppt/notesSlides/notesSlide10.xml" ContentType="application/vnd.openxmlformats-officedocument.presentationml.notesSlide+xml"/>
  <Override PartName="/ppt/charts/chart9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4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8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Niveau (%)</c:v>
                </c:pt>
              </c:strCache>
            </c:strRef>
          </c:tx>
          <c:spPr>
            <a:solidFill>
              <a:srgbClr val="B23A2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3315C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Exclus financièrement</c:v>
                </c:pt>
                <c:pt idx="1">
                  <c:v>Informel seulement</c:v>
                </c:pt>
                <c:pt idx="2">
                  <c:v>Autre formel non-bancaire</c:v>
                </c:pt>
                <c:pt idx="3">
                  <c:v>Bancarisé</c:v>
                </c:pt>
                <c:pt idx="4">
                  <c:v>Jamais eu crédit formel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46</c:v>
                </c:pt>
                <c:pt idx="1">
                  <c:v>10</c:v>
                </c:pt>
                <c:pt idx="2">
                  <c:v>27</c:v>
                </c:pt>
                <c:pt idx="3">
                  <c:v>11</c:v>
                </c:pt>
                <c:pt idx="4">
                  <c:v>94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306415152"/>
        <c:axId val="306415936"/>
      </c:barChart>
      <c:catAx>
        <c:axId val="30641515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3315C"/>
                </a:solidFill>
                <a:latin typeface="Arial"/>
              </a:defRPr>
            </a:pPr>
            <a:endParaRPr lang="fr-FR"/>
          </a:p>
        </c:txPr>
        <c:crossAx val="306415936"/>
        <c:crosses val="autoZero"/>
        <c:auto val="1"/>
        <c:lblAlgn val="ctr"/>
        <c:lblOffset val="100"/>
        <c:noMultiLvlLbl val="1"/>
      </c:catAx>
      <c:valAx>
        <c:axId val="306415936"/>
        <c:scaling>
          <c:orientation val="minMax"/>
          <c:max val="100"/>
        </c:scaling>
        <c:delete val="0"/>
        <c:axPos val="b"/>
        <c:majorGridlines>
          <c:spPr>
            <a:ln w="9525" cap="flat">
              <a:solidFill>
                <a:srgbClr val="D7DE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2"/>
                </a:solidFill>
                <a:latin typeface="Arial"/>
              </a:defRPr>
            </a:pPr>
            <a:endParaRPr lang="fr-FR"/>
          </a:p>
        </c:txPr>
        <c:crossAx val="306415152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Variables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6BB8"/>
              </a:solidFill>
              <a:effectLst/>
            </c:spPr>
          </c:dPt>
          <c:dPt>
            <c:idx val="1"/>
            <c:bubble3D val="0"/>
            <c:spPr>
              <a:solidFill>
                <a:srgbClr val="B8903E"/>
              </a:solidFill>
              <a:effectLst/>
            </c:spPr>
          </c:dPt>
          <c:dPt>
            <c:idx val="2"/>
            <c:bubble3D val="0"/>
            <c:spPr>
              <a:solidFill>
                <a:srgbClr val="7FA8D9"/>
              </a:solidFill>
              <a:effectLst/>
            </c:spPr>
          </c:dPt>
          <c:dPt>
            <c:idx val="3"/>
            <c:bubble3D val="0"/>
            <c:spPr>
              <a:solidFill>
                <a:srgbClr val="C98F3E"/>
              </a:solidFill>
              <a:effectLst/>
            </c:spPr>
          </c:dPt>
          <c:dPt>
            <c:idx val="4"/>
            <c:bubble3D val="0"/>
            <c:spPr>
              <a:solidFill>
                <a:srgbClr val="AEB9C7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950" b="0" i="0" u="none" strike="noStrike">
                      <a:solidFill>
                        <a:srgbClr val="13315C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950" b="0" i="0" u="none" strike="noStrike">
                      <a:solidFill>
                        <a:srgbClr val="13315C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/>
              <c:numFmt formatCode="0%" sourceLinked="0"/>
              <c:spPr/>
              <c:txPr>
                <a:bodyPr/>
                <a:lstStyle/>
                <a:p>
                  <a:pPr>
                    <a:defRPr sz="950" b="0" i="0" u="none" strike="noStrike">
                      <a:solidFill>
                        <a:srgbClr val="13315C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/>
              <c:numFmt formatCode="0%" sourceLinked="0"/>
              <c:spPr/>
              <c:txPr>
                <a:bodyPr/>
                <a:lstStyle/>
                <a:p>
                  <a:pPr>
                    <a:defRPr sz="950" b="0" i="0" u="none" strike="noStrike">
                      <a:solidFill>
                        <a:srgbClr val="13315C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/>
              <c:numFmt formatCode="0%" sourceLinked="0"/>
              <c:spPr/>
              <c:txPr>
                <a:bodyPr/>
                <a:lstStyle/>
                <a:p>
                  <a:pPr>
                    <a:defRPr sz="950" b="0" i="0" u="none" strike="noStrike">
                      <a:solidFill>
                        <a:srgbClr val="13315C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Numériques</c:v>
                </c:pt>
                <c:pt idx="1">
                  <c:v>Binaires</c:v>
                </c:pt>
                <c:pt idx="2">
                  <c:v>Ordinales</c:v>
                </c:pt>
                <c:pt idx="3">
                  <c:v>Nominale</c:v>
                </c:pt>
                <c:pt idx="4">
                  <c:v>Non analytiques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8</c:v>
                </c:pt>
                <c:pt idx="2">
                  <c:v>3</c:v>
                </c:pt>
                <c:pt idx="3">
                  <c:v>1</c:v>
                </c:pt>
                <c:pt idx="4">
                  <c:v>20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950">
              <a:solidFill>
                <a:srgbClr val="13315C"/>
              </a:solidFill>
            </a:defRPr>
          </a:pPr>
          <a:endParaRPr lang="fr-FR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 médian</c:v>
                </c:pt>
              </c:strCache>
            </c:strRef>
          </c:tx>
          <c:spPr>
            <a:solidFill>
              <a:srgbClr val="2E7D4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3315C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Emploi salarié formel</c:v>
                </c:pt>
                <c:pt idx="1">
                  <c:v>Services/Transport</c:v>
                </c:pt>
                <c:pt idx="2">
                  <c:v>Commerce informel</c:v>
                </c:pt>
                <c:pt idx="3">
                  <c:v>Artisanat/Production</c:v>
                </c:pt>
                <c:pt idx="4">
                  <c:v>Agriculture/Élevage</c:v>
                </c:pt>
                <c:pt idx="5">
                  <c:v>Sans activité/Ménage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11207</c:v>
                </c:pt>
                <c:pt idx="1">
                  <c:v>5320</c:v>
                </c:pt>
                <c:pt idx="2">
                  <c:v>4028</c:v>
                </c:pt>
                <c:pt idx="3">
                  <c:v>3391</c:v>
                </c:pt>
                <c:pt idx="4">
                  <c:v>1875</c:v>
                </c:pt>
                <c:pt idx="5">
                  <c:v>746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306413192"/>
        <c:axId val="306413584"/>
      </c:barChart>
      <c:catAx>
        <c:axId val="30641319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13315C"/>
                </a:solidFill>
                <a:latin typeface="Arial"/>
              </a:defRPr>
            </a:pPr>
            <a:endParaRPr lang="fr-FR"/>
          </a:p>
        </c:txPr>
        <c:crossAx val="306413584"/>
        <c:crosses val="autoZero"/>
        <c:auto val="1"/>
        <c:lblAlgn val="ctr"/>
        <c:lblOffset val="100"/>
        <c:noMultiLvlLbl val="1"/>
      </c:catAx>
      <c:valAx>
        <c:axId val="306413584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D7DE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82"/>
                </a:solidFill>
                <a:latin typeface="Arial"/>
              </a:defRPr>
            </a:pPr>
            <a:endParaRPr lang="fr-FR"/>
          </a:p>
        </c:txPr>
        <c:crossAx val="3064131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Oui</c:v>
                </c:pt>
              </c:strCache>
            </c:strRef>
          </c:tx>
          <c:spPr>
            <a:solidFill>
              <a:srgbClr val="2E6BB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3315C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Acte de naissance</c:v>
                </c:pt>
                <c:pt idx="1">
                  <c:v>CIN (carte identité)</c:v>
                </c:pt>
                <c:pt idx="2">
                  <c:v>Manque argent fréquent</c:v>
                </c:pt>
                <c:pt idx="3">
                  <c:v>Possède téléphone</c:v>
                </c:pt>
                <c:pt idx="4">
                  <c:v>Membre tontine (sòl)</c:v>
                </c:pt>
                <c:pt idx="5">
                  <c:v>Épargne formelle</c:v>
                </c:pt>
                <c:pt idx="6">
                  <c:v>Mobile money</c:v>
                </c:pt>
                <c:pt idx="7">
                  <c:v>Crédit informel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93.9</c:v>
                </c:pt>
                <c:pt idx="1">
                  <c:v>65.3</c:v>
                </c:pt>
                <c:pt idx="2">
                  <c:v>63.3</c:v>
                </c:pt>
                <c:pt idx="3">
                  <c:v>61</c:v>
                </c:pt>
                <c:pt idx="4">
                  <c:v>40.6</c:v>
                </c:pt>
                <c:pt idx="5">
                  <c:v>12.8</c:v>
                </c:pt>
                <c:pt idx="6">
                  <c:v>12</c:v>
                </c:pt>
                <c:pt idx="7">
                  <c:v>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379404152"/>
        <c:axId val="379405720"/>
      </c:barChart>
      <c:catAx>
        <c:axId val="37940415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3315C"/>
                </a:solidFill>
                <a:latin typeface="Arial"/>
              </a:defRPr>
            </a:pPr>
            <a:endParaRPr lang="fr-FR"/>
          </a:p>
        </c:txPr>
        <c:crossAx val="379405720"/>
        <c:crosses val="autoZero"/>
        <c:auto val="1"/>
        <c:lblAlgn val="ctr"/>
        <c:lblOffset val="100"/>
        <c:noMultiLvlLbl val="1"/>
      </c:catAx>
      <c:valAx>
        <c:axId val="379405720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D7DE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82"/>
                </a:solidFill>
                <a:latin typeface="Arial"/>
              </a:defRPr>
            </a:pPr>
            <a:endParaRPr lang="fr-FR"/>
          </a:p>
        </c:txPr>
        <c:crossAx val="3794041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2E6BB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3315C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Nippes</c:v>
                </c:pt>
                <c:pt idx="1">
                  <c:v>Nord-Est</c:v>
                </c:pt>
                <c:pt idx="2">
                  <c:v>Centre</c:v>
                </c:pt>
                <c:pt idx="3">
                  <c:v>Grand-Anse</c:v>
                </c:pt>
                <c:pt idx="4">
                  <c:v>Aire Métropolitaine</c:v>
                </c:pt>
                <c:pt idx="5">
                  <c:v>Sud</c:v>
                </c:pt>
                <c:pt idx="6">
                  <c:v>Artibonite</c:v>
                </c:pt>
                <c:pt idx="7">
                  <c:v>Ouest (reste)</c:v>
                </c:pt>
                <c:pt idx="8">
                  <c:v>Nord</c:v>
                </c:pt>
                <c:pt idx="9">
                  <c:v>Nord-Ouest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57</c:v>
                </c:pt>
                <c:pt idx="1">
                  <c:v>56.5</c:v>
                </c:pt>
                <c:pt idx="2">
                  <c:v>54.9</c:v>
                </c:pt>
                <c:pt idx="3">
                  <c:v>46.2</c:v>
                </c:pt>
                <c:pt idx="4">
                  <c:v>45.3</c:v>
                </c:pt>
                <c:pt idx="5">
                  <c:v>42.1</c:v>
                </c:pt>
                <c:pt idx="6">
                  <c:v>40</c:v>
                </c:pt>
                <c:pt idx="7">
                  <c:v>39.799999999999997</c:v>
                </c:pt>
                <c:pt idx="8">
                  <c:v>38.4</c:v>
                </c:pt>
                <c:pt idx="9">
                  <c:v>38.1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379398272"/>
        <c:axId val="379398664"/>
      </c:barChart>
      <c:catAx>
        <c:axId val="37939827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3315C"/>
                </a:solidFill>
                <a:latin typeface="Arial"/>
              </a:defRPr>
            </a:pPr>
            <a:endParaRPr lang="fr-FR"/>
          </a:p>
        </c:txPr>
        <c:crossAx val="379398664"/>
        <c:crosses val="autoZero"/>
        <c:auto val="1"/>
        <c:lblAlgn val="ctr"/>
        <c:lblOffset val="100"/>
        <c:noMultiLvlLbl val="1"/>
      </c:catAx>
      <c:valAx>
        <c:axId val="379398664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D7DE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2"/>
                </a:solidFill>
                <a:latin typeface="Arial"/>
              </a:defRPr>
            </a:pPr>
            <a:endParaRPr lang="fr-FR"/>
          </a:p>
        </c:txPr>
        <c:crossAx val="3793982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Silhouette ×100</c:v>
                </c:pt>
              </c:strCache>
            </c:strRef>
          </c:tx>
          <c:spPr>
            <a:ln w="31750" cap="flat">
              <a:solidFill>
                <a:srgbClr val="2E6BB8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E6BB8"/>
              </a:solidFill>
              <a:ln w="9525" cap="flat">
                <a:solidFill>
                  <a:srgbClr val="2E6BB8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11.6</c:v>
                </c:pt>
                <c:pt idx="1">
                  <c:v>14.1</c:v>
                </c:pt>
                <c:pt idx="2">
                  <c:v>18.600000000000001</c:v>
                </c:pt>
                <c:pt idx="3">
                  <c:v>23.2</c:v>
                </c:pt>
                <c:pt idx="4">
                  <c:v>26.8</c:v>
                </c:pt>
                <c:pt idx="5">
                  <c:v>27.1</c:v>
                </c:pt>
                <c:pt idx="6">
                  <c:v>26.1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 / 25</c:v>
                </c:pt>
              </c:strCache>
            </c:strRef>
          </c:tx>
          <c:spPr>
            <a:ln w="31750" cap="flat">
              <a:solidFill>
                <a:srgbClr val="B8903E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B8903E"/>
              </a:solidFill>
              <a:ln w="9525" cap="flat">
                <a:solidFill>
                  <a:srgbClr val="B8903E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19.2</c:v>
                </c:pt>
                <c:pt idx="1">
                  <c:v>20.7</c:v>
                </c:pt>
                <c:pt idx="2">
                  <c:v>22.1</c:v>
                </c:pt>
                <c:pt idx="3">
                  <c:v>23.7</c:v>
                </c:pt>
                <c:pt idx="4">
                  <c:v>25.5</c:v>
                </c:pt>
                <c:pt idx="5">
                  <c:v>24.7</c:v>
                </c:pt>
                <c:pt idx="6">
                  <c:v>23.1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79400232"/>
        <c:axId val="379403368"/>
      </c:lineChart>
      <c:catAx>
        <c:axId val="3794002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3315C"/>
                </a:solidFill>
                <a:latin typeface="Arial"/>
              </a:defRPr>
            </a:pPr>
            <a:endParaRPr lang="fr-FR"/>
          </a:p>
        </c:txPr>
        <c:crossAx val="379403368"/>
        <c:crosses val="autoZero"/>
        <c:auto val="1"/>
        <c:lblAlgn val="ctr"/>
        <c:lblOffset val="100"/>
        <c:noMultiLvlLbl val="1"/>
      </c:catAx>
      <c:valAx>
        <c:axId val="379403368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7DE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82"/>
                </a:solidFill>
                <a:latin typeface="Arial"/>
              </a:defRPr>
            </a:pPr>
            <a:endParaRPr lang="fr-FR"/>
          </a:p>
        </c:txPr>
        <c:crossAx val="3794002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800">
              <a:solidFill>
                <a:srgbClr val="13315C"/>
              </a:solidFill>
            </a:defRPr>
          </a:pPr>
          <a:endParaRPr lang="fr-FR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2E7D46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B8903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8903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23A2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23A2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23A2E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13315C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Salariés formels</c:v>
                </c:pt>
                <c:pt idx="1">
                  <c:v>Commerçants informels</c:v>
                </c:pt>
                <c:pt idx="2">
                  <c:v>Prestataires services</c:v>
                </c:pt>
                <c:pt idx="3">
                  <c:v>Ménages sans revenus</c:v>
                </c:pt>
                <c:pt idx="4">
                  <c:v>Artisans</c:v>
                </c:pt>
                <c:pt idx="5">
                  <c:v>Agriculteurs vulnérables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80.3</c:v>
                </c:pt>
                <c:pt idx="1">
                  <c:v>51.3</c:v>
                </c:pt>
                <c:pt idx="2">
                  <c:v>45.1</c:v>
                </c:pt>
                <c:pt idx="3">
                  <c:v>26.4</c:v>
                </c:pt>
                <c:pt idx="4">
                  <c:v>24.2</c:v>
                </c:pt>
                <c:pt idx="5">
                  <c:v>12.6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379400624"/>
        <c:axId val="379402584"/>
      </c:barChart>
      <c:catAx>
        <c:axId val="37940062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3315C"/>
                </a:solidFill>
                <a:latin typeface="Arial"/>
              </a:defRPr>
            </a:pPr>
            <a:endParaRPr lang="fr-FR"/>
          </a:p>
        </c:txPr>
        <c:crossAx val="379402584"/>
        <c:crosses val="autoZero"/>
        <c:auto val="1"/>
        <c:lblAlgn val="ctr"/>
        <c:lblOffset val="100"/>
        <c:noMultiLvlLbl val="1"/>
      </c:catAx>
      <c:valAx>
        <c:axId val="379402584"/>
        <c:scaling>
          <c:orientation val="minMax"/>
          <c:max val="90"/>
        </c:scaling>
        <c:delete val="0"/>
        <c:axPos val="b"/>
        <c:majorGridlines>
          <c:spPr>
            <a:ln w="9525" cap="flat">
              <a:solidFill>
                <a:srgbClr val="D7DE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82"/>
                </a:solidFill>
                <a:latin typeface="Arial"/>
              </a:defRPr>
            </a:pPr>
            <a:endParaRPr lang="fr-FR"/>
          </a:p>
        </c:txPr>
        <c:crossAx val="3794006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Salariés formels</c:v>
                </c:pt>
              </c:strCache>
            </c:strRef>
          </c:tx>
          <c:spPr>
            <a:solidFill>
              <a:srgbClr val="2E7D4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3315C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CIN</c:v>
                </c:pt>
                <c:pt idx="1">
                  <c:v>Tontine</c:v>
                </c:pt>
                <c:pt idx="2">
                  <c:v>Mobile money</c:v>
                </c:pt>
                <c:pt idx="3">
                  <c:v>Épargne formelle</c:v>
                </c:pt>
                <c:pt idx="4">
                  <c:v>Manque argent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72</c:v>
                </c:pt>
                <c:pt idx="1">
                  <c:v>33</c:v>
                </c:pt>
                <c:pt idx="2">
                  <c:v>18</c:v>
                </c:pt>
                <c:pt idx="3">
                  <c:v>32</c:v>
                </c:pt>
                <c:pt idx="4">
                  <c:v>44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Commerçants informels</c:v>
                </c:pt>
              </c:strCache>
            </c:strRef>
          </c:tx>
          <c:spPr>
            <a:solidFill>
              <a:srgbClr val="B8903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3315C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CIN</c:v>
                </c:pt>
                <c:pt idx="1">
                  <c:v>Tontine</c:v>
                </c:pt>
                <c:pt idx="2">
                  <c:v>Mobile money</c:v>
                </c:pt>
                <c:pt idx="3">
                  <c:v>Épargne formelle</c:v>
                </c:pt>
                <c:pt idx="4">
                  <c:v>Manque argent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67</c:v>
                </c:pt>
                <c:pt idx="1">
                  <c:v>49</c:v>
                </c:pt>
                <c:pt idx="2">
                  <c:v>12</c:v>
                </c:pt>
                <c:pt idx="3">
                  <c:v>14</c:v>
                </c:pt>
                <c:pt idx="4">
                  <c:v>61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Prestataires services</c:v>
                </c:pt>
              </c:strCache>
            </c:strRef>
          </c:tx>
          <c:spPr>
            <a:solidFill>
              <a:srgbClr val="2E6BB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3315C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CIN</c:v>
                </c:pt>
                <c:pt idx="1">
                  <c:v>Tontine</c:v>
                </c:pt>
                <c:pt idx="2">
                  <c:v>Mobile money</c:v>
                </c:pt>
                <c:pt idx="3">
                  <c:v>Épargne formelle</c:v>
                </c:pt>
                <c:pt idx="4">
                  <c:v>Manque argent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68</c:v>
                </c:pt>
                <c:pt idx="1">
                  <c:v>38</c:v>
                </c:pt>
                <c:pt idx="2">
                  <c:v>14</c:v>
                </c:pt>
                <c:pt idx="3">
                  <c:v>14</c:v>
                </c:pt>
                <c:pt idx="4">
                  <c:v>53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379404544"/>
        <c:axId val="379399448"/>
      </c:barChart>
      <c:catAx>
        <c:axId val="3794045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3315C"/>
                </a:solidFill>
                <a:latin typeface="Arial"/>
              </a:defRPr>
            </a:pPr>
            <a:endParaRPr lang="fr-FR"/>
          </a:p>
        </c:txPr>
        <c:crossAx val="379399448"/>
        <c:crosses val="autoZero"/>
        <c:auto val="1"/>
        <c:lblAlgn val="ctr"/>
        <c:lblOffset val="100"/>
        <c:noMultiLvlLbl val="1"/>
      </c:catAx>
      <c:valAx>
        <c:axId val="379399448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7DE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2"/>
                </a:solidFill>
                <a:latin typeface="Arial"/>
              </a:defRPr>
            </a:pPr>
            <a:endParaRPr lang="fr-FR"/>
          </a:p>
        </c:txPr>
        <c:crossAx val="3794045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13315C"/>
              </a:solidFill>
            </a:defRPr>
          </a:pPr>
          <a:endParaRPr lang="fr-FR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Eta²</c:v>
                </c:pt>
              </c:strCache>
            </c:strRef>
          </c:tx>
          <c:spPr>
            <a:solidFill>
              <a:srgbClr val="2E7D46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</c:dPt>
          <c:dPt>
            <c:idx val="2"/>
            <c:invertIfNegative val="0"/>
            <c:bubble3D val="0"/>
            <c:spPr>
              <a:solidFill>
                <a:srgbClr val="2E6B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6BB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D8FC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5D8FC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AEB9C7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AEB9C7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B23A2E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B23A2E"/>
              </a:solidFill>
              <a:effectLst/>
            </c:spPr>
          </c:dPt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3315C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Revenu_Mensuel_HTG</c:v>
                </c:pt>
                <c:pt idx="1">
                  <c:v>Niveau_Inclusion_Financière</c:v>
                </c:pt>
                <c:pt idx="2">
                  <c:v>Manque_Argent_Frequent</c:v>
                </c:pt>
                <c:pt idx="3">
                  <c:v>Epargne_Formelle</c:v>
                </c:pt>
                <c:pt idx="4">
                  <c:v>Niveau_Education</c:v>
                </c:pt>
                <c:pt idx="5">
                  <c:v>Membre_Tontine_Sol</c:v>
                </c:pt>
                <c:pt idx="6">
                  <c:v>CIN_Carte_Identite</c:v>
                </c:pt>
                <c:pt idx="7">
                  <c:v>Mobile_Money</c:v>
                </c:pt>
                <c:pt idx="8">
                  <c:v>Age</c:v>
                </c:pt>
                <c:pt idx="9">
                  <c:v>Credit_Informel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0.5423</c:v>
                </c:pt>
                <c:pt idx="1">
                  <c:v>8.5000000000000006E-2</c:v>
                </c:pt>
                <c:pt idx="2">
                  <c:v>3.0099999999999998E-2</c:v>
                </c:pt>
                <c:pt idx="3">
                  <c:v>2.93E-2</c:v>
                </c:pt>
                <c:pt idx="4">
                  <c:v>2.1600000000000001E-2</c:v>
                </c:pt>
                <c:pt idx="5">
                  <c:v>1.2E-2</c:v>
                </c:pt>
                <c:pt idx="6">
                  <c:v>5.3E-3</c:v>
                </c:pt>
                <c:pt idx="7">
                  <c:v>4.1999999999999997E-3</c:v>
                </c:pt>
                <c:pt idx="8">
                  <c:v>1E-4</c:v>
                </c:pt>
                <c:pt idx="9">
                  <c:v>1E-4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379401800"/>
        <c:axId val="380508080"/>
      </c:barChart>
      <c:catAx>
        <c:axId val="37940180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3315C"/>
                </a:solidFill>
                <a:latin typeface="Arial"/>
              </a:defRPr>
            </a:pPr>
            <a:endParaRPr lang="fr-FR"/>
          </a:p>
        </c:txPr>
        <c:crossAx val="380508080"/>
        <c:crosses val="autoZero"/>
        <c:auto val="1"/>
        <c:lblAlgn val="ctr"/>
        <c:lblOffset val="100"/>
        <c:noMultiLvlLbl val="1"/>
      </c:catAx>
      <c:valAx>
        <c:axId val="380508080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D7DE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82"/>
                </a:solidFill>
                <a:latin typeface="Arial"/>
              </a:defRPr>
            </a:pPr>
            <a:endParaRPr lang="fr-FR"/>
          </a:p>
        </c:txPr>
        <c:crossAx val="3794018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627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-1463040"/>
            <a:ext cx="4754880" cy="475488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85832" y="4206240"/>
            <a:ext cx="3108960" cy="3108960"/>
          </a:xfrm>
          <a:prstGeom prst="ellipse">
            <a:avLst/>
          </a:prstGeom>
          <a:solidFill>
            <a:srgbClr val="B8903E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BB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FACULTÉ DES SCIENCES (FDS) — FORMATION FRST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Segmentation des ménages haïtiens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exclus du crédit formel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i="1" dirty="0">
                <a:solidFill>
                  <a:srgbClr val="D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des profils prioritaires pour le ciblage d'une offre de microcrédit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22960" y="4343400"/>
            <a:ext cx="6949440" cy="18288"/>
          </a:xfrm>
          <a:prstGeom prst="roundRect">
            <a:avLst>
              <a:gd name="adj" fmla="val 400000"/>
            </a:avLst>
          </a:prstGeom>
          <a:solidFill>
            <a:srgbClr val="AFC4E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5720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Davidson RIGAUD  ·  Abdarare HERARD  ·  Roodson FRANCOIS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956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: M. Evens TOUSSAINT   |   Groupe 5   |   Juillet 2026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5806440"/>
            <a:ext cx="6035040" cy="502920"/>
          </a:xfrm>
          <a:prstGeom prst="roundRect">
            <a:avLst>
              <a:gd name="adj" fmla="val 50909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6E88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80644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E7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financée par la Banque de la République d'Haïti (BRH)</a:t>
            </a:r>
            <a:endParaRPr lang="en-US" sz="1050" dirty="0"/>
          </a:p>
        </p:txBody>
      </p:sp>
      <p:pic>
        <p:nvPicPr>
          <p:cNvPr id="12" name="Picture 11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39636" cy="7772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9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la présentation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440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C6D8EF"/>
            </a:solidFill>
            <a:prstDash val="solid"/>
          </a:ln>
          <a:effectLst>
            <a:outerShdw blurRad="76200" dist="25400" dir="5400000" algn="bl" rotWithShape="0">
              <a:srgbClr val="13315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810512"/>
            <a:ext cx="658368" cy="658368"/>
          </a:xfrm>
          <a:prstGeom prst="ellipse">
            <a:avLst/>
          </a:prstGeom>
          <a:solidFill>
            <a:srgbClr val="E2ECF9"/>
          </a:solidFill>
          <a:ln w="12700">
            <a:solidFill>
              <a:srgbClr val="C6D8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8105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6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00200" y="1600200"/>
            <a:ext cx="4160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et contexte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440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C6D8EF"/>
            </a:solidFill>
            <a:prstDash val="solid"/>
          </a:ln>
          <a:effectLst>
            <a:outerShdw blurRad="76200" dist="25400" dir="5400000" algn="bl" rotWithShape="0">
              <a:srgbClr val="13315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19672" y="1810512"/>
            <a:ext cx="658368" cy="658368"/>
          </a:xfrm>
          <a:prstGeom prst="ellipse">
            <a:avLst/>
          </a:prstGeom>
          <a:solidFill>
            <a:srgbClr val="E2ECF9"/>
          </a:solidFill>
          <a:ln w="12700">
            <a:solidFill>
              <a:srgbClr val="C6D8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8105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6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60920" y="1600200"/>
            <a:ext cx="4160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 de données — FinScope 2018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02920" y="2953512"/>
            <a:ext cx="5440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C6D8EF"/>
            </a:solidFill>
            <a:prstDash val="solid"/>
          </a:ln>
          <a:effectLst>
            <a:outerShdw blurRad="76200" dist="25400" dir="5400000" algn="bl" rotWithShape="0">
              <a:srgbClr val="13315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58952" y="3163824"/>
            <a:ext cx="658368" cy="658368"/>
          </a:xfrm>
          <a:prstGeom prst="ellipse">
            <a:avLst/>
          </a:prstGeom>
          <a:solidFill>
            <a:srgbClr val="E2ECF9"/>
          </a:solidFill>
          <a:ln w="12700">
            <a:solidFill>
              <a:srgbClr val="C6D8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316382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6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00200" y="2953512"/>
            <a:ext cx="4160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et exploration (EDA)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263640" y="2953512"/>
            <a:ext cx="5440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C6D8EF"/>
            </a:solidFill>
            <a:prstDash val="solid"/>
          </a:ln>
          <a:effectLst>
            <a:outerShdw blurRad="76200" dist="25400" dir="5400000" algn="bl" rotWithShape="0">
              <a:srgbClr val="13315C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19672" y="3163824"/>
            <a:ext cx="658368" cy="658368"/>
          </a:xfrm>
          <a:prstGeom prst="ellipse">
            <a:avLst/>
          </a:prstGeom>
          <a:solidFill>
            <a:srgbClr val="E2ECF9"/>
          </a:solidFill>
          <a:ln w="12700">
            <a:solidFill>
              <a:srgbClr val="C6D8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9672" y="316382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6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 bis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60920" y="2953512"/>
            <a:ext cx="4160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OLAP &amp; Dashboard Power BI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02920" y="4306824"/>
            <a:ext cx="5440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C6D8EF"/>
            </a:solidFill>
            <a:prstDash val="solid"/>
          </a:ln>
          <a:effectLst>
            <a:outerShdw blurRad="76200" dist="25400" dir="5400000" algn="bl" rotWithShape="0">
              <a:srgbClr val="13315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8952" y="4517136"/>
            <a:ext cx="658368" cy="658368"/>
          </a:xfrm>
          <a:prstGeom prst="ellipse">
            <a:avLst/>
          </a:prstGeom>
          <a:solidFill>
            <a:srgbClr val="E2ECF9"/>
          </a:solidFill>
          <a:ln w="12700">
            <a:solidFill>
              <a:srgbClr val="C6D8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" y="45171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6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00200" y="4306824"/>
            <a:ext cx="4160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et choix du modèle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263640" y="4306824"/>
            <a:ext cx="5440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C6D8EF"/>
            </a:solidFill>
            <a:prstDash val="solid"/>
          </a:ln>
          <a:effectLst>
            <a:outerShdw blurRad="76200" dist="25400" dir="5400000" algn="bl" rotWithShape="0">
              <a:srgbClr val="13315C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19672" y="4517136"/>
            <a:ext cx="658368" cy="658368"/>
          </a:xfrm>
          <a:prstGeom prst="ellipse">
            <a:avLst/>
          </a:prstGeom>
          <a:solidFill>
            <a:srgbClr val="E2ECF9"/>
          </a:solidFill>
          <a:ln w="12700">
            <a:solidFill>
              <a:srgbClr val="C6D8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9672" y="45171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6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60920" y="4306824"/>
            <a:ext cx="4160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Fondements mathématiques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502920" y="5660136"/>
            <a:ext cx="5440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C6D8EF"/>
            </a:solidFill>
            <a:prstDash val="solid"/>
          </a:ln>
          <a:effectLst>
            <a:outerShdw blurRad="76200" dist="25400" dir="5400000" algn="bl" rotWithShape="0">
              <a:srgbClr val="13315C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58952" y="5870448"/>
            <a:ext cx="658368" cy="658368"/>
          </a:xfrm>
          <a:prstGeom prst="ellipse">
            <a:avLst/>
          </a:prstGeom>
          <a:solidFill>
            <a:srgbClr val="E2ECF9"/>
          </a:solidFill>
          <a:ln w="12700">
            <a:solidFill>
              <a:srgbClr val="C6D8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" y="58704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6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600200" y="5660136"/>
            <a:ext cx="4160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et évaluation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6263640" y="5660136"/>
            <a:ext cx="5440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C6D8EF"/>
            </a:solidFill>
            <a:prstDash val="solid"/>
          </a:ln>
          <a:effectLst>
            <a:outerShdw blurRad="76200" dist="25400" dir="5400000" algn="bl" rotWithShape="0">
              <a:srgbClr val="13315C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519672" y="5870448"/>
            <a:ext cx="658368" cy="658368"/>
          </a:xfrm>
          <a:prstGeom prst="ellipse">
            <a:avLst/>
          </a:prstGeom>
          <a:solidFill>
            <a:srgbClr val="E2ECF9"/>
          </a:solidFill>
          <a:ln w="12700">
            <a:solidFill>
              <a:srgbClr val="C6D8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19672" y="58704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6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4.7–4.8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360920" y="5660136"/>
            <a:ext cx="4160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 · Éthique · Conclusion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5 — FDS/FRST · Capstone 2025-2026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000232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9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— CONTEXTE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Problématique et contexte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5DEDA"/>
          </a:solidFill>
          <a:ln w="9525">
            <a:solidFill>
              <a:srgbClr val="C6D8EF"/>
            </a:solidFill>
            <a:prstDash val="solid"/>
          </a:ln>
          <a:effectLst>
            <a:outerShdw blurRad="76200" dist="25400" dir="5400000" algn="bl" rotWithShape="0">
              <a:srgbClr val="13315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527048"/>
            <a:ext cx="24231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2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133295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adulte exclue du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financier formel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10128" y="14173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EFE1C2"/>
          </a:solidFill>
          <a:ln w="9525">
            <a:solidFill>
              <a:srgbClr val="C6D8EF"/>
            </a:solidFill>
            <a:prstDash val="solid"/>
          </a:ln>
          <a:effectLst>
            <a:outerShdw blurRad="76200" dist="25400" dir="5400000" algn="bl" rotWithShape="0">
              <a:srgbClr val="13315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01568" y="1527048"/>
            <a:ext cx="24231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890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47288" y="2133295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 financièrement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(FinScope 2018)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17336" y="14173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E2ECF9"/>
          </a:solidFill>
          <a:ln w="9525">
            <a:solidFill>
              <a:srgbClr val="C6D8EF"/>
            </a:solidFill>
            <a:prstDash val="solid"/>
          </a:ln>
          <a:effectLst>
            <a:outerShdw blurRad="76200" dist="25400" dir="5400000" algn="bl" rotWithShape="0">
              <a:srgbClr val="13315C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08776" y="1527048"/>
            <a:ext cx="24231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6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54496" y="2133295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au crédit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formel seulement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24544" y="14173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DCEEE1"/>
          </a:solidFill>
          <a:ln w="9525">
            <a:solidFill>
              <a:srgbClr val="C6D8EF"/>
            </a:solidFill>
            <a:prstDash val="solid"/>
          </a:ln>
          <a:effectLst>
            <a:outerShdw blurRad="76200" dist="25400" dir="5400000" algn="bl" rotWithShape="0">
              <a:srgbClr val="13315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15984" y="1527048"/>
            <a:ext cx="24231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7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4 016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61704" y="2133295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Ménages haïtiens analysés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(population cible)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288036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Niveaux d'inclusion financière — Haïti 2018</a:t>
            </a:r>
            <a:endParaRPr lang="en-US" sz="13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365760" y="3200400"/>
          <a:ext cx="630936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8" name="Shape 15"/>
          <p:cNvSpPr/>
          <p:nvPr/>
        </p:nvSpPr>
        <p:spPr>
          <a:xfrm>
            <a:off x="6995160" y="2880360"/>
            <a:ext cx="4709160" cy="1508760"/>
          </a:xfrm>
          <a:prstGeom prst="roundRect">
            <a:avLst>
              <a:gd name="adj" fmla="val 4848"/>
            </a:avLst>
          </a:prstGeom>
          <a:solidFill>
            <a:srgbClr val="F5DEDA"/>
          </a:solidFill>
          <a:ln w="12700">
            <a:solidFill>
              <a:srgbClr val="B23A2E"/>
            </a:solidFill>
            <a:prstDash val="solid"/>
          </a:ln>
          <a:effectLst>
            <a:outerShdw blurRad="76200" dist="25400" dir="5400000" algn="bl" rotWithShape="0">
              <a:srgbClr val="13315C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178040" y="29992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Problème métier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178040" y="329184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IMF peinent à identifier les segments à fort potentiel d'adoption du microcrédit, faute d'une cartographie fine des profils des ménages non bancarisés.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995160" y="4526280"/>
            <a:ext cx="4709160" cy="1737360"/>
          </a:xfrm>
          <a:prstGeom prst="roundRect">
            <a:avLst>
              <a:gd name="adj" fmla="val 4211"/>
            </a:avLst>
          </a:prstGeom>
          <a:solidFill>
            <a:srgbClr val="E2ECF9"/>
          </a:solidFill>
          <a:ln w="12700">
            <a:solidFill>
              <a:srgbClr val="2E6BB8"/>
            </a:solidFill>
            <a:prstDash val="solid"/>
          </a:ln>
          <a:effectLst>
            <a:outerShdw blurRad="76200" dist="25400" dir="5400000" algn="bl" rotWithShape="0">
              <a:srgbClr val="13315C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178040" y="46451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6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Question analytique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178040" y="4937760"/>
            <a:ext cx="4389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Peut-on segmenter les ménages haïtiens exclus du crédit formel pour identifier ceux les plus susceptibles d'adopter et rembourser un microcrédit ?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5 — FDS/FRST · Capstone 2025-2026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000232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9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— DONNÉES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Jeu de données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Caractéristiques du dataset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6949440" cy="4206240"/>
        </p:xfrm>
        <a:graphic>
          <a:graphicData uri="http://schemas.openxmlformats.org/drawingml/2006/table">
            <a:tbl>
              <a:tblPr/>
              <a:tblGrid>
                <a:gridCol w="2286000"/>
                <a:gridCol w="4663440"/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Paramètre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FinScope Consumer Haïti 2018 (BRH / DAI / FinMark Trust)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Taille totale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4 269 individus × 34 variables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cible (filtre)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4 016 individus — jamais eu crédit formel (94,1%)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 numériques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(Age, Revenu_Mensuel_HTG)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 binaires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 dont 6 retenues pour le clustering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 ordinales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(Éducation, Planification, Inclusion financière)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nominale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(Secteur_Activité — 6 modalités → 17 col. après encodage)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Valeurs manquantes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sur variables de clustering (après imputation)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818120" y="13716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par type de variable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7635240" y="1691640"/>
          <a:ext cx="42062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7635240" y="507492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BF7EF"/>
          </a:solidFill>
          <a:ln w="9525">
            <a:solidFill>
              <a:srgbClr val="C6D8EF"/>
            </a:solidFill>
            <a:prstDash val="solid"/>
          </a:ln>
          <a:effectLst>
            <a:outerShdw blurRad="76200" dist="25400" dir="5400000" algn="bl" rotWithShape="0">
              <a:srgbClr val="13315C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7818120" y="519379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dataset couvre l'ensemble des dimensions socio-économiques nécessaires à une segmentation fine : revenus, éducation, inclusion financière et comportement d'épargne.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5 — FDS/FRST · Capstone 2025-2026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000232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9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— EDA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exploratoire des données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 médian par secteur d'activité (HTG)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572768"/>
          <a:ext cx="566928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39136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Médiane globale : 2 756 HTG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30936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d'accès aux services financiers (% Oui)</a:t>
            </a:r>
            <a:endParaRPr lang="en-US" sz="120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6172200" y="1572768"/>
          <a:ext cx="566928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Text 5"/>
          <p:cNvSpPr/>
          <p:nvPr/>
        </p:nvSpPr>
        <p:spPr>
          <a:xfrm>
            <a:off x="6309360" y="418795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B89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mobile money : 49 pp inexploités (61% équipés vs 12% utilisateurs)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502920" y="470916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6D8EF"/>
            </a:solidFill>
            <a:prstDash val="solid"/>
          </a:ln>
          <a:effectLst>
            <a:outerShdw blurRad="76200" dist="25400" dir="5400000" algn="bl" rotWithShape="0">
              <a:srgbClr val="13315C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594360" y="48188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E6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 = 2 179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12648" y="5303520"/>
            <a:ext cx="2386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Kruskal-Wallis Revenu×Secteur — p≈0 ***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310128" y="470916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6D8EF"/>
            </a:solidFill>
            <a:prstDash val="solid"/>
          </a:ln>
          <a:effectLst>
            <a:outerShdw blurRad="76200" dist="25400" dir="5400000" algn="bl" rotWithShape="0">
              <a:srgbClr val="13315C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3401568" y="48188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890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 pp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3419856" y="5303520"/>
            <a:ext cx="2386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mobile money — opportunité numérique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117336" y="470916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6D8EF"/>
            </a:solidFill>
            <a:prstDash val="solid"/>
          </a:ln>
          <a:effectLst>
            <a:outerShdw blurRad="76200" dist="25400" dir="5400000" algn="bl" rotWithShape="0">
              <a:srgbClr val="13315C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208776" y="48188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E7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= 0,638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6227064" y="5303520"/>
            <a:ext cx="2386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Cramér Épargne×Inclusion — association forte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8924544" y="470916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6D8EF"/>
            </a:solidFill>
            <a:prstDash val="solid"/>
          </a:ln>
          <a:effectLst>
            <a:outerShdw blurRad="76200" dist="25400" dir="5400000" algn="bl" rotWithShape="0">
              <a:srgbClr val="13315C">
                <a:alpha val="12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9015984" y="48188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2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p&lt;10⁻⁵⁷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9034272" y="5303520"/>
            <a:ext cx="2386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Mann-Whitney Revenu×Milieu — urbain 2,2× rural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5 — FDS/FRST · Capstone 2025-2026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000232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9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BIS — OLAP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OLAP &amp; Dashboard Power BI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C6D8EF"/>
            </a:solidFill>
            <a:prstDash val="solid"/>
          </a:ln>
          <a:effectLst>
            <a:outerShdw blurRad="76200" dist="25400" dir="5400000" algn="bl" rotWithShape="0">
              <a:srgbClr val="13315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68196" y="1508760"/>
            <a:ext cx="475488" cy="475488"/>
          </a:xfrm>
          <a:prstGeom prst="ellipse">
            <a:avLst/>
          </a:prstGeom>
          <a:solidFill>
            <a:srgbClr val="E2ECF9"/>
          </a:solidFill>
          <a:ln w="12700">
            <a:solidFill>
              <a:srgbClr val="C6D8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68196" y="1508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6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12648" y="205740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générale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23957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KPI · Inclusion · Secteur · Services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310128" y="13716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C6D8EF"/>
            </a:solidFill>
            <a:prstDash val="solid"/>
          </a:ln>
          <a:effectLst>
            <a:outerShdw blurRad="76200" dist="25400" dir="5400000" algn="bl" rotWithShape="0">
              <a:srgbClr val="13315C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75404" y="1508760"/>
            <a:ext cx="475488" cy="475488"/>
          </a:xfrm>
          <a:prstGeom prst="ellipse">
            <a:avLst/>
          </a:prstGeom>
          <a:solidFill>
            <a:srgbClr val="E2ECF9"/>
          </a:solidFill>
          <a:ln w="12700">
            <a:solidFill>
              <a:srgbClr val="C6D8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75404" y="1508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6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19856" y="205740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géographique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447288" y="23957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par département · Slicer Milieu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17336" y="13716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C6D8EF"/>
            </a:solidFill>
            <a:prstDash val="solid"/>
          </a:ln>
          <a:effectLst>
            <a:outerShdw blurRad="76200" dist="25400" dir="5400000" algn="bl" rotWithShape="0">
              <a:srgbClr val="13315C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82612" y="1508760"/>
            <a:ext cx="475488" cy="475488"/>
          </a:xfrm>
          <a:prstGeom prst="ellipse">
            <a:avLst/>
          </a:prstGeom>
          <a:solidFill>
            <a:srgbClr val="E2ECF9"/>
          </a:solidFill>
          <a:ln w="12700">
            <a:solidFill>
              <a:srgbClr val="C6D8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82612" y="1508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6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27064" y="205740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Profils comportementaux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54496" y="23957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Tontine × Genre/Milieu · Comport. × Secteur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924544" y="13716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C6D8EF"/>
            </a:solidFill>
            <a:prstDash val="solid"/>
          </a:ln>
          <a:effectLst>
            <a:outerShdw blurRad="76200" dist="25400" dir="5400000" algn="bl" rotWithShape="0">
              <a:srgbClr val="13315C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989820" y="1508760"/>
            <a:ext cx="475488" cy="475488"/>
          </a:xfrm>
          <a:prstGeom prst="ellipse">
            <a:avLst/>
          </a:prstGeom>
          <a:solidFill>
            <a:srgbClr val="E2ECF9"/>
          </a:solidFill>
          <a:ln w="12700">
            <a:solidFill>
              <a:srgbClr val="C6D8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89820" y="1508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6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034272" y="205740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Ciblage microcrédit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061704" y="23957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priorité · Gap mobile money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2920" y="30632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priorité microcrédit par département (filtre Rural)</a:t>
            </a:r>
            <a:endParaRPr lang="en-US" sz="130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365760" y="3364992"/>
          <a:ext cx="786384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6" name="Shape 23"/>
          <p:cNvSpPr/>
          <p:nvPr/>
        </p:nvSpPr>
        <p:spPr>
          <a:xfrm>
            <a:off x="8458200" y="3364992"/>
            <a:ext cx="3246120" cy="2880360"/>
          </a:xfrm>
          <a:prstGeom prst="roundRect">
            <a:avLst>
              <a:gd name="adj" fmla="val 2540"/>
            </a:avLst>
          </a:prstGeom>
          <a:solidFill>
            <a:srgbClr val="FBF7EF"/>
          </a:solidFill>
          <a:ln w="9525">
            <a:solidFill>
              <a:srgbClr val="C6D8EF"/>
            </a:solidFill>
            <a:prstDash val="solid"/>
          </a:ln>
          <a:effectLst>
            <a:outerShdw blurRad="76200" dist="25400" dir="5400000" algn="bl" rotWithShape="0">
              <a:srgbClr val="13315C">
                <a:alpha val="1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8641080" y="35204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9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 du score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8641080" y="388620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50" dirty="0">
                <a:solidFill>
                  <a:srgbClr val="133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Tontine × 0,20</a:t>
            </a:r>
            <a:endParaRPr lang="en-US" sz="10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050" dirty="0">
                <a:solidFill>
                  <a:srgbClr val="133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CIN × 0,20</a:t>
            </a:r>
            <a:endParaRPr lang="en-US" sz="10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050" dirty="0">
                <a:solidFill>
                  <a:srgbClr val="133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Revenu × 0,20</a:t>
            </a:r>
            <a:endParaRPr lang="en-US" sz="10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050" dirty="0">
                <a:solidFill>
                  <a:srgbClr val="133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Exclusion × 0,15</a:t>
            </a:r>
            <a:endParaRPr lang="en-US" sz="10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050" dirty="0">
                <a:solidFill>
                  <a:srgbClr val="133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Manque argent × 0,15</a:t>
            </a:r>
            <a:endParaRPr lang="en-US" sz="10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050" dirty="0">
                <a:solidFill>
                  <a:srgbClr val="133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Téléphone × 0,10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8641080" y="56235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départements ruraux du Sud/Sud-Est concentrent les scores les plus élevés.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5 — FDS/FRST · Capstone 2025-2026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000232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9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&amp; 4.5 — MÉTHODE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Méthodologie et fondements mathématiques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208483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C6D8EF"/>
            </a:solidFill>
            <a:prstDash val="solid"/>
          </a:ln>
          <a:effectLst>
            <a:outerShdw blurRad="76200" dist="25400" dir="5400000" algn="bl" rotWithShape="0">
              <a:srgbClr val="13315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1408176"/>
            <a:ext cx="347472" cy="347472"/>
          </a:xfrm>
          <a:prstGeom prst="ellipse">
            <a:avLst/>
          </a:prstGeom>
          <a:solidFill>
            <a:srgbClr val="2E6BB8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408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80136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" y="2048256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6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z=(x−μ)/σ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2249424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variables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569464" y="1746504"/>
            <a:ext cx="2606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89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11196" y="1298448"/>
            <a:ext cx="208483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C6D8EF"/>
            </a:solidFill>
            <a:prstDash val="solid"/>
          </a:ln>
          <a:effectLst>
            <a:outerShdw blurRad="76200" dist="25400" dir="5400000" algn="bl" rotWithShape="0">
              <a:srgbClr val="13315C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820924" y="1408176"/>
            <a:ext cx="347472" cy="347472"/>
          </a:xfrm>
          <a:prstGeom prst="ellipse">
            <a:avLst/>
          </a:prstGeom>
          <a:solidFill>
            <a:srgbClr val="5D8FCC"/>
          </a:solidFill>
          <a:ln/>
        </p:spPr>
      </p:sp>
      <p:sp>
        <p:nvSpPr>
          <p:cNvPr id="13" name="Text 11"/>
          <p:cNvSpPr/>
          <p:nvPr/>
        </p:nvSpPr>
        <p:spPr>
          <a:xfrm>
            <a:off x="2820924" y="1408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02636" y="180136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AFDM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802636" y="2048256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8F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C=VΛVᵀ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802636" y="2249424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comp. · 85% var.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77740" y="1746504"/>
            <a:ext cx="2606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89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919472" y="1298448"/>
            <a:ext cx="208483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C6D8EF"/>
            </a:solidFill>
            <a:prstDash val="solid"/>
          </a:ln>
          <a:effectLst>
            <a:outerShdw blurRad="76200" dist="25400" dir="5400000" algn="bl" rotWithShape="0">
              <a:srgbClr val="13315C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0" y="1408176"/>
            <a:ext cx="347472" cy="347472"/>
          </a:xfrm>
          <a:prstGeom prst="ellipse">
            <a:avLst/>
          </a:prstGeom>
          <a:solidFill>
            <a:srgbClr val="B8903E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1408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10912" y="180136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k=6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10912" y="2048256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90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critères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10912" y="2249424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CH=638,12 (pic)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986016" y="1746504"/>
            <a:ext cx="2606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89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127748" y="1298448"/>
            <a:ext cx="208483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C6D8EF"/>
            </a:solidFill>
            <a:prstDash val="solid"/>
          </a:ln>
          <a:effectLst>
            <a:outerShdw blurRad="76200" dist="25400" dir="5400000" algn="bl" rotWithShape="0">
              <a:srgbClr val="13315C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237476" y="1408176"/>
            <a:ext cx="347472" cy="347472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27" name="Text 25"/>
          <p:cNvSpPr/>
          <p:nvPr/>
        </p:nvSpPr>
        <p:spPr>
          <a:xfrm>
            <a:off x="7237476" y="1408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19188" y="180136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219188" y="2048256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7D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W(k)=Σ‖x−μⱼ‖²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219188" y="2249424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n_init=50 · k-means++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9194292" y="1746504"/>
            <a:ext cx="2606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89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336024" y="1298448"/>
            <a:ext cx="208483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C6D8EF"/>
            </a:solidFill>
            <a:prstDash val="solid"/>
          </a:ln>
          <a:effectLst>
            <a:outerShdw blurRad="76200" dist="25400" dir="5400000" algn="bl" rotWithShape="0">
              <a:srgbClr val="13315C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445752" y="1408176"/>
            <a:ext cx="347472" cy="347472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34" name="Text 32"/>
          <p:cNvSpPr/>
          <p:nvPr/>
        </p:nvSpPr>
        <p:spPr>
          <a:xfrm>
            <a:off x="9445752" y="1408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427464" y="180136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427464" y="2048256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2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 Bootstrap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427464" y="2249424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· 50 runs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02920" y="2697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des 5 algorithmes de clustering</a:t>
            </a:r>
            <a:endParaRPr lang="en-US" sz="12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017520"/>
          <a:ext cx="7955280" cy="2194560"/>
        </p:xfrm>
        <a:graphic>
          <a:graphicData uri="http://schemas.openxmlformats.org/drawingml/2006/table">
            <a:tbl>
              <a:tblPr/>
              <a:tblGrid>
                <a:gridCol w="1691640"/>
                <a:gridCol w="1051560"/>
                <a:gridCol w="960120"/>
                <a:gridCol w="868680"/>
                <a:gridCol w="1143000"/>
                <a:gridCol w="2240280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Méthode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 vs K-m.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Décision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k=6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0,2683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638,12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1,4631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Référence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E7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CAH Ward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0,2136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512,91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1,7639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0,7316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indép.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K-médoïdes PAM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0,1421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347,43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2,0552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0,5525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Médoïdes réels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Mixte CAH+KM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0,2683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638,12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1,4631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Identique à K-means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DBSCAN eps=2,0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0,2466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clusters (globulaire)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</a:tr>
            </a:tbl>
          </a:graphicData>
        </a:graphic>
      </p:graphicFrame>
      <p:sp>
        <p:nvSpPr>
          <p:cNvPr id="40" name="Text 37"/>
          <p:cNvSpPr/>
          <p:nvPr/>
        </p:nvSpPr>
        <p:spPr>
          <a:xfrm>
            <a:off x="854964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Critères de choix de k (k = 2 à 8)</a:t>
            </a:r>
            <a:endParaRPr lang="en-US" sz="1200" dirty="0"/>
          </a:p>
        </p:txBody>
      </p:sp>
      <p:graphicFrame>
        <p:nvGraphicFramePr>
          <p:cNvPr id="41" name="Chart 0"/>
          <p:cNvGraphicFramePr/>
          <p:nvPr/>
        </p:nvGraphicFramePr>
        <p:xfrm>
          <a:off x="8412480" y="2999232"/>
          <a:ext cx="342900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2" name="Shape 38"/>
          <p:cNvSpPr/>
          <p:nvPr/>
        </p:nvSpPr>
        <p:spPr>
          <a:xfrm>
            <a:off x="365760" y="5257800"/>
            <a:ext cx="11475720" cy="960120"/>
          </a:xfrm>
          <a:prstGeom prst="roundRect">
            <a:avLst>
              <a:gd name="adj" fmla="val 7619"/>
            </a:avLst>
          </a:prstGeom>
          <a:solidFill>
            <a:srgbClr val="EFE1C2"/>
          </a:solidFill>
          <a:ln w="12700">
            <a:solidFill>
              <a:srgbClr val="B8903E"/>
            </a:solidFill>
            <a:prstDash val="solid"/>
          </a:ln>
          <a:effectLst>
            <a:outerShdw blurRad="76200" dist="25400" dir="5400000" algn="bl" rotWithShape="0">
              <a:srgbClr val="13315C">
                <a:alpha val="12000"/>
              </a:srgbClr>
            </a:outerShdw>
          </a:effectLst>
        </p:spPr>
      </p:sp>
      <p:sp>
        <p:nvSpPr>
          <p:cNvPr id="43" name="Text 39"/>
          <p:cNvSpPr/>
          <p:nvPr/>
        </p:nvSpPr>
        <p:spPr>
          <a:xfrm>
            <a:off x="594360" y="53949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6 retenu — pic net de Calinski-Harabasz (638,12) confirmé par la Silhouette (0,268) et cohérent sur les 6 critères testés (Elbow, Silhouette, CH, DB, Gap Statistic, stabilité bootstrap).</a:t>
            </a:r>
            <a:endParaRPr lang="en-US" sz="1100" dirty="0"/>
          </a:p>
        </p:txBody>
      </p:sp>
      <p:sp>
        <p:nvSpPr>
          <p:cNvPr id="44" name="Text 4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5 — FDS/FRST · Capstone 2025-2026</a:t>
            </a:r>
            <a:endParaRPr lang="en-US" sz="900" dirty="0"/>
          </a:p>
        </p:txBody>
      </p:sp>
      <p:sp>
        <p:nvSpPr>
          <p:cNvPr id="45" name="Text 41"/>
          <p:cNvSpPr/>
          <p:nvPr/>
        </p:nvSpPr>
        <p:spPr>
          <a:xfrm>
            <a:off x="11000232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9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 — RÉSULTATS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six segments identifiés (K-means, k=6)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71600"/>
          <a:ext cx="11338560" cy="2688336"/>
        </p:xfrm>
        <a:graphic>
          <a:graphicData uri="http://schemas.openxmlformats.org/drawingml/2006/table">
            <a:tbl>
              <a:tblPr/>
              <a:tblGrid>
                <a:gridCol w="2880360"/>
                <a:gridCol w="822960"/>
                <a:gridCol w="822960"/>
                <a:gridCol w="1737360"/>
                <a:gridCol w="1371600"/>
                <a:gridCol w="1371600"/>
                <a:gridCol w="2331720"/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 médian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/100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Salariés formels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11 207 HTG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7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Prioritaire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Commerçants informels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1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1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1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4 028 HTG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1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1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0,235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1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890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Secondaire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1C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Prestataires services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1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1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1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5 320 HTG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1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1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0,278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1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890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Secondaire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1C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Ménages sans revenus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E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E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E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746 HTG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E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E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0,251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E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2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prioritaire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ED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Artisans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E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E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E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3 391 HTG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E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E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0,316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E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2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prioritaire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ED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Agriculteurs vulnérables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E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1 116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E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E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1 875 HTG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E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E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0,273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E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2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prioritaire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ED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priorité microcrédit (/100)</a:t>
            </a:r>
            <a:endParaRPr lang="en-US" sz="12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4407408"/>
          <a:ext cx="1143000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5 — FDS/FRST · Capstone 2025-2026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000232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9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 — PROFILS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Profils détaillés des trois segments prioritaires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comportemental des segments prioritaires (%)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600200"/>
          <a:ext cx="1143000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3"/>
          <p:cNvSpPr/>
          <p:nvPr/>
        </p:nvSpPr>
        <p:spPr>
          <a:xfrm>
            <a:off x="411480" y="4709160"/>
            <a:ext cx="3703320" cy="1783080"/>
          </a:xfrm>
          <a:prstGeom prst="roundRect">
            <a:avLst>
              <a:gd name="adj" fmla="val 4103"/>
            </a:avLst>
          </a:prstGeom>
          <a:solidFill>
            <a:srgbClr val="DCEEE1"/>
          </a:solidFill>
          <a:ln w="9525">
            <a:solidFill>
              <a:srgbClr val="C6D8EF"/>
            </a:solidFill>
            <a:prstDash val="solid"/>
          </a:ln>
          <a:effectLst>
            <a:outerShdw blurRad="76200" dist="25400" dir="5400000" algn="bl" rotWithShape="0">
              <a:srgbClr val="13315C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76072" y="481888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Salariés formels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063240" y="48188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E7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80,3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76072" y="5120640"/>
            <a:ext cx="3374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Prêt personnel / professionnel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76072" y="5422392"/>
            <a:ext cx="3374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 : 15 000 – 50 000 HTG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76072" y="5641848"/>
            <a:ext cx="3374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Remb. : Virement mensuel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76072" y="5943600"/>
            <a:ext cx="3374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Rev. 11 207 HTG · Épargne 32% · CIN 72%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297680" y="4709160"/>
            <a:ext cx="3703320" cy="1783080"/>
          </a:xfrm>
          <a:prstGeom prst="roundRect">
            <a:avLst>
              <a:gd name="adj" fmla="val 4103"/>
            </a:avLst>
          </a:prstGeom>
          <a:solidFill>
            <a:srgbClr val="EFE1C2"/>
          </a:solidFill>
          <a:ln w="9525">
            <a:solidFill>
              <a:srgbClr val="C6D8EF"/>
            </a:solidFill>
            <a:prstDash val="solid"/>
          </a:ln>
          <a:effectLst>
            <a:outerShdw blurRad="76200" dist="25400" dir="5400000" algn="bl" rotWithShape="0">
              <a:srgbClr val="13315C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462272" y="481888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9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Commerçants informels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949440" y="48188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B890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51,3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462272" y="5120640"/>
            <a:ext cx="3374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Microcrédit groupé (tontines)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462272" y="5422392"/>
            <a:ext cx="3374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 : 5 000 – 20 000 HTG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462272" y="5641848"/>
            <a:ext cx="3374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Remb. : Hebdomadaire / bi-mensuel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462272" y="5943600"/>
            <a:ext cx="3374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Tontine 49% · Rev. 4 028 HTG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183880" y="4709160"/>
            <a:ext cx="3703320" cy="1783080"/>
          </a:xfrm>
          <a:prstGeom prst="roundRect">
            <a:avLst>
              <a:gd name="adj" fmla="val 4103"/>
            </a:avLst>
          </a:prstGeom>
          <a:solidFill>
            <a:srgbClr val="E2ECF9"/>
          </a:solidFill>
          <a:ln w="9525">
            <a:solidFill>
              <a:srgbClr val="C6D8EF"/>
            </a:solidFill>
            <a:prstDash val="solid"/>
          </a:ln>
          <a:effectLst>
            <a:outerShdw blurRad="76200" dist="25400" dir="5400000" algn="bl" rotWithShape="0">
              <a:srgbClr val="13315C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348472" y="481888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6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Prestataires services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0835640" y="48188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E6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45,1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348472" y="5120640"/>
            <a:ext cx="3374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 numérique mobile money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348472" y="5422392"/>
            <a:ext cx="3374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 : 3 000 – 15 000 HTG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8348472" y="5641848"/>
            <a:ext cx="3374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Remb. : Via mobile money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8348472" y="5943600"/>
            <a:ext cx="3374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 14% · Rev. 5 320 HTG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5 — FDS/FRST · Capstone 2025-2026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000232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9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 —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Évaluation et validation du modèle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11480" y="137160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C6D8EF"/>
            </a:solidFill>
            <a:prstDash val="solid"/>
          </a:ln>
          <a:effectLst>
            <a:outerShdw blurRad="76200" dist="25400" dir="5400000" algn="bl" rotWithShape="0">
              <a:srgbClr val="13315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371600"/>
            <a:ext cx="64008" cy="1234440"/>
          </a:xfrm>
          <a:prstGeom prst="rect">
            <a:avLst/>
          </a:prstGeom>
          <a:solidFill>
            <a:srgbClr val="2E7D46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4813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 Bootstrap = 1,000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12648" y="19385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std=0,000 · 50 runs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2648" y="22860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Stabilité parfaite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19272" y="137160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C6D8EF"/>
            </a:solidFill>
            <a:prstDash val="solid"/>
          </a:ln>
          <a:effectLst>
            <a:outerShdw blurRad="76200" dist="25400" dir="5400000" algn="bl" rotWithShape="0">
              <a:srgbClr val="13315C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9272" y="1371600"/>
            <a:ext cx="64008" cy="1234440"/>
          </a:xfrm>
          <a:prstGeom prst="rect">
            <a:avLst/>
          </a:prstGeom>
          <a:solidFill>
            <a:srgbClr val="2E6BB8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4813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Silhouette = 0,268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20440" y="19385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6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pour données mixtes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0440" y="22860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FinScope 0,20–0,35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27064" y="137160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C6D8EF"/>
            </a:solidFill>
            <a:prstDash val="solid"/>
          </a:ln>
          <a:effectLst>
            <a:outerShdw blurRad="76200" dist="25400" dir="5400000" algn="bl" rotWithShape="0">
              <a:srgbClr val="13315C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27064" y="1371600"/>
            <a:ext cx="64008" cy="1234440"/>
          </a:xfrm>
          <a:prstGeom prst="rect">
            <a:avLst/>
          </a:prstGeom>
          <a:solidFill>
            <a:srgbClr val="B8903E"/>
          </a:solidFill>
          <a:ln/>
        </p:spPr>
      </p:sp>
      <p:sp>
        <p:nvSpPr>
          <p:cNvPr id="16" name="Text 14"/>
          <p:cNvSpPr/>
          <p:nvPr/>
        </p:nvSpPr>
        <p:spPr>
          <a:xfrm>
            <a:off x="6428232" y="14813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Individus ambigus = 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28232" y="19385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9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28232" y="22860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individu mal assigné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134856" y="137160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C6D8EF"/>
            </a:solidFill>
            <a:prstDash val="solid"/>
          </a:ln>
          <a:effectLst>
            <a:outerShdw blurRad="76200" dist="25400" dir="5400000" algn="bl" rotWithShape="0">
              <a:srgbClr val="13315C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34856" y="1371600"/>
            <a:ext cx="64008" cy="1234440"/>
          </a:xfrm>
          <a:prstGeom prst="rect">
            <a:avLst/>
          </a:prstGeom>
          <a:solidFill>
            <a:srgbClr val="B23A2E"/>
          </a:solidFill>
          <a:ln/>
        </p:spPr>
      </p:sp>
      <p:sp>
        <p:nvSpPr>
          <p:cNvPr id="21" name="Text 19"/>
          <p:cNvSpPr/>
          <p:nvPr/>
        </p:nvSpPr>
        <p:spPr>
          <a:xfrm>
            <a:off x="9336024" y="14813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 sans revenu = 0,997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336024" y="19385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multidimensionnelle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36024" y="22860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confirmée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" y="27889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Pouvoir discriminant des variables (Eta²)</a:t>
            </a:r>
            <a:endParaRPr lang="en-US" sz="120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274320" y="3090672"/>
          <a:ext cx="59436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6" name="Text 23"/>
          <p:cNvSpPr/>
          <p:nvPr/>
        </p:nvSpPr>
        <p:spPr>
          <a:xfrm>
            <a:off x="6537960" y="27889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individuelle par segment</a:t>
            </a:r>
            <a:endParaRPr lang="en-US" sz="1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3108960"/>
          <a:ext cx="5257800" cy="2688336"/>
        </p:xfrm>
        <a:graphic>
          <a:graphicData uri="http://schemas.openxmlformats.org/drawingml/2006/table">
            <a:tbl>
              <a:tblPr/>
              <a:tblGrid>
                <a:gridCol w="1234440"/>
                <a:gridCol w="640080"/>
                <a:gridCol w="640080"/>
                <a:gridCol w="640080"/>
                <a:gridCol w="640080"/>
                <a:gridCol w="1463040"/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Interprétation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Salariés formels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0,074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0,087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0,436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le plus distinct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Artisans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0,067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0,121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0,445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le plus compact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Prestataires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0,278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0,372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Bien séparé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Agriculteurs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0,273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0,069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— groupe large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Ménages s.r.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0,251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0,073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0,044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Frontière floue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Comm. informels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0,235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0,086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0,332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Hétérogénéité interne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</a:tr>
            </a:tbl>
          </a:graphicData>
        </a:graphic>
      </p:graphicFrame>
      <p:sp>
        <p:nvSpPr>
          <p:cNvPr id="28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5 — FDS/FRST · Capstone 2025-2026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000232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9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 — INTERPRÉTATION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Interprétation, réponses et limites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11480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aux questions analytiques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627632"/>
          <a:ext cx="11338560" cy="2834640"/>
        </p:xfrm>
        <a:graphic>
          <a:graphicData uri="http://schemas.openxmlformats.org/drawingml/2006/table">
            <a:tbl>
              <a:tblPr/>
              <a:tblGrid>
                <a:gridCol w="3017520"/>
                <a:gridCol w="8321040"/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Réponse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E6B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— Variables discriminantes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 (Eta²=0,542) + Secteur (V=1,000) dominent. Age et Crédit_Informel non discriminants (Eta²≈0) → à retirer en v2.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E6B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— Segment pré-bancabilisable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Salariés formels (80,3/100 · n=307) + Commerçants informels (51,3/100 · tontine 49% · n=1 026) = 33,1% pop. cible.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E6B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 — Structuration géographique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Aire Métro (29% commerçants · 11,8% salariés) vs Nippes/Grand-Anse (45–46% agriculteurs). Mann-Whitney p&lt;10⁻⁵⁷.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E6B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 — Méthode la plus robuste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k=6 — meilleur sur 3 métriques · ARI Bootstrap=1,000 · ARI sans revenu=0,997.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11480" y="4160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et mesures correctives</a:t>
            </a:r>
            <a:endParaRPr lang="en-US" sz="125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4462272"/>
          <a:ext cx="11338560" cy="2240280"/>
        </p:xfrm>
        <a:graphic>
          <a:graphicData uri="http://schemas.openxmlformats.org/drawingml/2006/table">
            <a:tbl>
              <a:tblPr/>
              <a:tblGrid>
                <a:gridCol w="640080"/>
                <a:gridCol w="4663440"/>
                <a:gridCol w="1005840"/>
                <a:gridCol w="5029200"/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Mesure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synthétique — corrélations simulées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890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prêt pour microdonnées BRH réelles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Sous-représentation rurale (29,3% vs ~45% réel)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890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Appliquer Poids_Sondage en v2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Données 2018 — contexte post-COVID non reflété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890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MàJ biannuelle + FINDEX 2021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&amp; Crédit_Informel non discriminants (Eta²≈0)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Retirer en v2 — réduire à 10 variables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Cramér Secteur=1,000 — circularité encodage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 méthodologique documentée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6B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 modérée 0,268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Normale pour données mixtes (0,20–0,35)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5 — FDS/FRST · Capstone 2025-2026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000232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9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 — ÉTHIQUE &amp; RECOMMANDATIONS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Éthique, recommandations et déploiement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3657600" cy="5029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2E6BB8"/>
            </a:solidFill>
            <a:prstDash val="solid"/>
          </a:ln>
          <a:effectLst>
            <a:outerShdw blurRad="76200" dist="25400" dir="5400000" algn="bl" rotWithShape="0">
              <a:srgbClr val="13315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5819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6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Éthique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0116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E6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donnée individuelle réelle utilisée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276148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E6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= aide à la décision, non exclusion automatique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3511296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E6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Biais genre documenté — femmes tontine 45,6% vs hommes 35,3%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4261104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E6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externe obligatoire avant déploiement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501091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E6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biannuelle requise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51960" y="1417320"/>
            <a:ext cx="3657600" cy="5029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2E7D46"/>
            </a:solidFill>
            <a:prstDash val="solid"/>
          </a:ln>
          <a:effectLst>
            <a:outerShdw blurRad="76200" dist="25400" dir="5400000" algn="bl" rotWithShape="0">
              <a:srgbClr val="13315C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34840" y="15819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Recommandations IMF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2011680"/>
          <a:ext cx="3657600" cy="2688336"/>
        </p:xfrm>
        <a:graphic>
          <a:graphicData uri="http://schemas.openxmlformats.org/drawingml/2006/table">
            <a:tbl>
              <a:tblPr/>
              <a:tblGrid>
                <a:gridCol w="1325880"/>
                <a:gridCol w="1417320"/>
                <a:gridCol w="914400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4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Salariés formels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Prêt personnel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15k–50k HTG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Comm. informels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Microcrédit tontines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5k–20k HTG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Prestat. services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Crédit mobile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3k–15k HTG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Artisans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Crédit équipement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10k–30k HTG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Ménages s.r.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Épargne d'abord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Agriculteurs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 BRH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1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8092440" y="1417320"/>
            <a:ext cx="3657600" cy="5029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B8903E"/>
            </a:solidFill>
            <a:prstDash val="solid"/>
          </a:ln>
          <a:effectLst>
            <a:outerShdw blurRad="76200" dist="25400" dir="5400000" algn="bl" rotWithShape="0">
              <a:srgbClr val="13315C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275320" y="15819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9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 BRH &amp; Pipeline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275320" y="19842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BRH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275320" y="22860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b="1" dirty="0">
                <a:solidFill>
                  <a:srgbClr val="B89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3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CIN rural → objectif 70% (59% actuel)</a:t>
            </a:r>
            <a:endParaRPr lang="en-US" sz="930" dirty="0"/>
          </a:p>
        </p:txBody>
      </p:sp>
      <p:sp>
        <p:nvSpPr>
          <p:cNvPr id="18" name="Text 15"/>
          <p:cNvSpPr/>
          <p:nvPr/>
        </p:nvSpPr>
        <p:spPr>
          <a:xfrm>
            <a:off x="8275320" y="281635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b="1" dirty="0">
                <a:solidFill>
                  <a:srgbClr val="B89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3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 agricole avant microcrédit agricole</a:t>
            </a:r>
            <a:endParaRPr lang="en-US" sz="930" dirty="0"/>
          </a:p>
        </p:txBody>
      </p:sp>
      <p:sp>
        <p:nvSpPr>
          <p:cNvPr id="19" name="Text 16"/>
          <p:cNvSpPr/>
          <p:nvPr/>
        </p:nvSpPr>
        <p:spPr>
          <a:xfrm>
            <a:off x="8275320" y="334670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b="1" dirty="0">
                <a:solidFill>
                  <a:srgbClr val="B89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3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mobile money 49pp → &lt;30pp d'ici 2028</a:t>
            </a:r>
            <a:endParaRPr lang="en-US" sz="930" dirty="0"/>
          </a:p>
        </p:txBody>
      </p:sp>
      <p:sp>
        <p:nvSpPr>
          <p:cNvPr id="20" name="Text 17"/>
          <p:cNvSpPr/>
          <p:nvPr/>
        </p:nvSpPr>
        <p:spPr>
          <a:xfrm>
            <a:off x="8275320" y="387705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b="1" dirty="0">
                <a:solidFill>
                  <a:srgbClr val="B89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3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Observatoire inclusion financière biannuel</a:t>
            </a:r>
            <a:endParaRPr lang="en-US" sz="930" dirty="0"/>
          </a:p>
        </p:txBody>
      </p:sp>
      <p:sp>
        <p:nvSpPr>
          <p:cNvPr id="21" name="Shape 18"/>
          <p:cNvSpPr/>
          <p:nvPr/>
        </p:nvSpPr>
        <p:spPr>
          <a:xfrm>
            <a:off x="8275320" y="4453128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BF7EF"/>
          </a:solidFill>
          <a:ln w="9525">
            <a:solidFill>
              <a:srgbClr val="C6D8EF"/>
            </a:solidFill>
            <a:prstDash val="solid"/>
          </a:ln>
          <a:effectLst>
            <a:outerShdw blurRad="76200" dist="25400" dir="5400000" algn="bl" rotWithShape="0">
              <a:srgbClr val="13315C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412480" y="4572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89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opérationnel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412480" y="4882896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870" dirty="0">
                <a:solidFill>
                  <a:srgbClr val="133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predict.py — accord 100% testé</a:t>
            </a:r>
            <a:endParaRPr lang="en-US" sz="87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70" dirty="0">
                <a:solidFill>
                  <a:srgbClr val="133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Prêt pour microdonnées BRH réelles</a:t>
            </a:r>
            <a:endParaRPr lang="en-US" sz="87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70" dirty="0">
                <a:solidFill>
                  <a:srgbClr val="133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predict import predire_segments</a:t>
            </a:r>
            <a:endParaRPr lang="en-US" sz="870" dirty="0"/>
          </a:p>
        </p:txBody>
      </p:sp>
      <p:sp>
        <p:nvSpPr>
          <p:cNvPr id="24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5 — FDS/FRST · Capstone 2025-2026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000232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9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7223760" cy="566928"/>
          </a:xfrm>
          <a:prstGeom prst="roundRect">
            <a:avLst>
              <a:gd name="adj" fmla="val 12903"/>
            </a:avLst>
          </a:prstGeom>
          <a:solidFill>
            <a:srgbClr val="DCEEE1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536192"/>
            <a:ext cx="329184" cy="329184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536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417320"/>
            <a:ext cx="6446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4 016 ménages segmentés en 6 profils statistiquement validés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075688"/>
            <a:ext cx="7223760" cy="566928"/>
          </a:xfrm>
          <a:prstGeom prst="roundRect">
            <a:avLst>
              <a:gd name="adj" fmla="val 12903"/>
            </a:avLst>
          </a:prstGeom>
          <a:solidFill>
            <a:srgbClr val="DCEEE1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2194560"/>
            <a:ext cx="329184" cy="329184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194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075688"/>
            <a:ext cx="6446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algorithmes comparés — K-means retenu : Silhouette=0,268 · CH=638,12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734056"/>
            <a:ext cx="7223760" cy="566928"/>
          </a:xfrm>
          <a:prstGeom prst="roundRect">
            <a:avLst>
              <a:gd name="adj" fmla="val 12903"/>
            </a:avLst>
          </a:prstGeom>
          <a:solidFill>
            <a:srgbClr val="DCEEE1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2852928"/>
            <a:ext cx="329184" cy="329184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852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734056"/>
            <a:ext cx="6446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multidimensionnelle confirmée — ARI sans revenu=0,997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392424"/>
            <a:ext cx="7223760" cy="566928"/>
          </a:xfrm>
          <a:prstGeom prst="roundRect">
            <a:avLst>
              <a:gd name="adj" fmla="val 12903"/>
            </a:avLst>
          </a:prstGeom>
          <a:solidFill>
            <a:srgbClr val="DCEEE1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" y="3511296"/>
            <a:ext cx="329184" cy="329184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3511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392424"/>
            <a:ext cx="6446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predict.py reproductible — accord 100% testé — prêt pour données BRH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4050792"/>
            <a:ext cx="7223760" cy="566928"/>
          </a:xfrm>
          <a:prstGeom prst="roundRect">
            <a:avLst>
              <a:gd name="adj" fmla="val 12903"/>
            </a:avLst>
          </a:prstGeom>
          <a:solidFill>
            <a:srgbClr val="DCEEE1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" y="4169664"/>
            <a:ext cx="329184" cy="329184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41696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4050792"/>
            <a:ext cx="6446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actionnables pour IMF, banques commerciales et BRH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863840" y="1417320"/>
            <a:ext cx="38862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B8903E"/>
            </a:solidFill>
            <a:prstDash val="solid"/>
          </a:ln>
          <a:effectLst>
            <a:outerShdw blurRad="76200" dist="25400" dir="5400000" algn="bl" rotWithShape="0">
              <a:srgbClr val="13315C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046720" y="1554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9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046720" y="18745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Davidson RIGAUD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Abdarare HERARD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Roodson FRANCOIS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46720" y="2880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9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046720" y="3154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Evens TOUSSAINT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046720" y="3474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Juillet 2026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46720" y="388620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FBF7EF"/>
          </a:solidFill>
          <a:ln w="9525">
            <a:solidFill>
              <a:srgbClr val="C6D8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56448" y="3931920"/>
            <a:ext cx="3163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financée par la Banque de la République d'Haïti (BRH)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11480" y="4892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des recommandations par segment</a:t>
            </a:r>
            <a:endParaRPr lang="en-US" sz="12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5193792"/>
          <a:ext cx="1133856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914400"/>
                <a:gridCol w="6675120"/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Recommandation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Salariés formels (7,6%)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80,3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Prêt 15k–50k HTG · virement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Commerçants informels (25,5%)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890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51,3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Microcrédit groupé tontines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Prestataires services (13,2%)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890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lending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Ménages sans revenus (14,9%)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2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Épargne mobile d'abord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Artisans (10,9%)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2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Sensibilisation → équipement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Agriculteurs vulnérables (27,8%)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2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 BRH inclusion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9"/>
                    </a:solidFill>
                  </a:tcPr>
                </a:tc>
              </a:tr>
            </a:tbl>
          </a:graphicData>
        </a:graphic>
      </p:graphicFrame>
      <p:sp>
        <p:nvSpPr>
          <p:cNvPr id="34" name="Text 3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5 — FDS/FRST · Capstone 2025-2026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000232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931920"/>
            <a:ext cx="4206240" cy="420624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11512" y="-1463040"/>
            <a:ext cx="3474720" cy="3474720"/>
          </a:xfrm>
          <a:prstGeom prst="ellipse">
            <a:avLst/>
          </a:prstGeom>
          <a:solidFill>
            <a:srgbClr val="B8903E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pour votre attention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D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802636" y="4160520"/>
            <a:ext cx="6583680" cy="18288"/>
          </a:xfrm>
          <a:prstGeom prst="roundRect">
            <a:avLst>
              <a:gd name="adj" fmla="val 400000"/>
            </a:avLst>
          </a:prstGeom>
          <a:solidFill>
            <a:srgbClr val="AFC4E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389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Davidson RIGAUD  ·  Abdarare HERARD  ·  Roodson FRANCOIS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800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5 — FDS / FRST — Promotion 2025-2026 — Juillet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76956" y="5577840"/>
            <a:ext cx="6035040" cy="502920"/>
          </a:xfrm>
          <a:prstGeom prst="roundRect">
            <a:avLst>
              <a:gd name="adj" fmla="val 50909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6E88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76956" y="557784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E7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financée par la Banque de la République d'Haïti (BRH)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1717</Words>
  <Application>Microsoft Office PowerPoint</Application>
  <PresentationFormat>Widescreen</PresentationFormat>
  <Paragraphs>474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account</cp:lastModifiedBy>
  <cp:revision>2</cp:revision>
  <dcterms:created xsi:type="dcterms:W3CDTF">2026-07-24T23:36:59Z</dcterms:created>
  <dcterms:modified xsi:type="dcterms:W3CDTF">2026-07-24T23:47:42Z</dcterms:modified>
</cp:coreProperties>
</file>